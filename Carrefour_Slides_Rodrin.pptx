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—
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Benchmark omnicanal — Positionnement concurrentiel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514600" cy="4572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914400"/>
            <a:ext cx="1508760" cy="4572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Carrefour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914400"/>
            <a:ext cx="1508760" cy="4572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Leclerc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914400"/>
            <a:ext cx="150876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Amazon Fresh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914400"/>
            <a:ext cx="1508760" cy="457200"/>
          </a:xfrm>
          <a:prstGeom prst="rect">
            <a:avLst/>
          </a:prstGeom>
          <a:solidFill>
            <a:srgbClr val="0D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Lidl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59" y="914400"/>
            <a:ext cx="1508760" cy="457200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Auchan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251460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Programme fidélité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141732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1732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141732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59" y="141732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28800"/>
            <a:ext cx="251460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Application mobile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182880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82880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82880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182880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240280"/>
            <a:ext cx="251460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Click &amp; Collect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39" y="224028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24028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24028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4028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59" y="224028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251460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Personnalisation offres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39" y="265176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65176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65176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265176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59" y="265176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63240"/>
            <a:ext cx="251460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Expérience en magasin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39" y="306324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306324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06324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306324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59" y="306324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474720"/>
            <a:ext cx="251460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Livraison express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39" y="347472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47472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347472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347472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59" y="3474720"/>
            <a:ext cx="1508760" cy="402336"/>
          </a:xfrm>
          <a:prstGeom prst="rect">
            <a:avLst/>
          </a:prstGeom>
          <a:solidFill>
            <a:srgbClr val="16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886200"/>
            <a:ext cx="251460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DDDDDD"/>
                </a:solidFill>
              </a:rPr>
              <a:t>Intégration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39" y="388620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388620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388620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★★★★★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79" y="388620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59" y="3886200"/>
            <a:ext cx="1508760" cy="402336"/>
          </a:xfrm>
          <a:prstGeom prst="rect">
            <a:avLst/>
          </a:prstGeom>
          <a:solidFill>
            <a:srgbClr val="1A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★★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Echelle de maturité omnicanale (1 = faible, 5 = excellent) — Analyse indicative 2025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✅ Leader GMS mais en retard vs Amazon sur la data   ⚠️ Leclerc surperforme sur le C&amp;C   🎯 Levier Carrefour : réseau physique + Carrefour+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>
                <a:solidFill>
                  <a:srgbClr val="1A2B52"/>
                </a:solidFill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474720"/>
            <a:ext cx="73152" cy="1645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Que faire en cas de
non fonctionnement
de la stratégie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663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Plan de contingence &amp; mesures correctives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13716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—
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Risques &amp; scénarios d'échec identifiés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429000" cy="4114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Risque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960120"/>
            <a:ext cx="1691639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Probabilité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960120"/>
            <a:ext cx="1691639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960120"/>
            <a:ext cx="480060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Signal d'alerte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429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Faible adoption de l'app Carrefour+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17320"/>
            <a:ext cx="1691639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Moyenne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417320"/>
            <a:ext cx="16916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Élevé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417320"/>
            <a:ext cx="48006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Taux utilisation &lt; 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92808"/>
            <a:ext cx="34290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Délais Click &amp; Collect non respectés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1892808"/>
            <a:ext cx="16916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Élevée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892808"/>
            <a:ext cx="16916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Élevé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892808"/>
            <a:ext cx="48006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Délai moyen &gt; 2h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68296"/>
            <a:ext cx="3429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Résistance des équipes en magasin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368296"/>
            <a:ext cx="1691639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Moyenne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368296"/>
            <a:ext cx="1691639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Moyen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368296"/>
            <a:ext cx="48006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NPS interne &lt; 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43784"/>
            <a:ext cx="34290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Silos de données persistants (CDP)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843784"/>
            <a:ext cx="16916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Faible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843784"/>
            <a:ext cx="1691639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Très élevé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843784"/>
            <a:ext cx="48006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CDP non opérationnel à M3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19272"/>
            <a:ext cx="34290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Concurrence agressive (Amazon, Leclerc)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3319272"/>
            <a:ext cx="16916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Élevée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3319272"/>
            <a:ext cx="1691639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Moyen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319272"/>
            <a:ext cx="48006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Perte part de marché &gt; 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794760"/>
            <a:ext cx="34290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Budget dépassé / retard déploiement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3794760"/>
            <a:ext cx="1691639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Moyenne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794760"/>
            <a:ext cx="1691639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Élevé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794760"/>
            <a:ext cx="4800600" cy="4572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0D1B3E"/>
                </a:solidFill>
              </a:rPr>
              <a:t>Dépassement &gt; 15% budget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13716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—
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Plan B — Mesures correctives par scénario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6576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🔴  App Carrefour+ peu adoptée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Campagne communication en magasin (affichage, caissiers ambassadeurs)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Offre de bienvenue : -10% sur la 1ère commande via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Simplification UX et refonte de l'onboarding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960120"/>
            <a:ext cx="365760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🟠  Délais Click &amp; Collect non respectés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Renforcement des équipes de préparation en heures de pointe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Révision des créneaux de commande disponibles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60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Partenariat avec un prestataire logistique externe en backup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960120"/>
            <a:ext cx="3657600" cy="457200"/>
          </a:xfrm>
          <a:prstGeom prst="rect">
            <a:avLst/>
          </a:prstGeom>
          <a:solidFill>
            <a:srgbClr val="C8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🟡  CDP non opérationnelle à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Utilisation temporaire des données CRM existantes (Salesforce)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Report de la phase 2 (Activation digitale) de 1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560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• Audit technique et recrutement d'un intégrateur externe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08960"/>
            <a:ext cx="11612880" cy="4114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🟢  Résistance des équipes en magasin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3E"/>
                </a:solidFill>
              </a:rPr>
              <a:t>• Programme de formation accéléré (e-learning + ateliers pratiques en magasin)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3E"/>
                </a:solidFill>
              </a:rPr>
              <a:t>• Désignation d'ambassadeurs digitaux dans chaque hypermarché pilote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1B3E"/>
                </a:solidFill>
              </a:rPr>
              <a:t>• Incentives liés à l'adoption des outils (prime trimestrielle)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64592"/>
            <a:ext cx="13716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—
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Gouvernance &amp; Pilotage de la stratégie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3657600" cy="7315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Comité de pilotage
mensuel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Revue complète des KPIs vs 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Décisions d'ajustement opérationnel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Présence DSI + Directeur e-commerce + DG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960120"/>
            <a:ext cx="365760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Seuils d'alerte
définis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KPI hors cible → réunion de crise 72h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Tableau de bord temps réel (Tableau/Looker)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Alertes automatiques si seuil franchi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960120"/>
            <a:ext cx="365760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Responsables
par axe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783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Data/CDP → DSI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App &amp; digital → Dir. e-commerce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0D1B3E"/>
                </a:solidFill>
              </a:rPr>
              <a:t>✓ Expérience magasin → Dir. régionaux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91840"/>
            <a:ext cx="116128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PROCESSUS DE RÉVISION STRATÉGIQUE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840480"/>
            <a:ext cx="13716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</a:rPr>
              <a:t>Bilan
Phase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041648"/>
            <a:ext cx="1097280" cy="137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3840480"/>
            <a:ext cx="1371600" cy="5486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434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</a:rPr>
              <a:t>Bilan
Phase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041648"/>
            <a:ext cx="1097280" cy="137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3840480"/>
            <a:ext cx="1371600" cy="5486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434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</a:rPr>
              <a:t>Bilan
Phase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4041648"/>
            <a:ext cx="1097280" cy="137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840480"/>
            <a:ext cx="1371600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1B3E"/>
                </a:solidFill>
              </a:rPr>
              <a:t>Bilan
annuel +
Roadmap 2027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12080"/>
            <a:ext cx="1161288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D1B3E"/>
                </a:solidFill>
              </a:rPr>
              <a:t>📊  Rapport trimestriel au CODIR avec recommandations d'ajustement — Présentation résultats &amp; parties prenantes à M12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"Une stratégie robuste
anticipe ses échecs."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640080" cy="5943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Mesurer en continu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Les KPIs sont des signaux d'alerte, pas juste des objectifs annuels.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79"/>
            <a:ext cx="640080" cy="59436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83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Agir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03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Décision corrective sous 72h max dès détection d'un écart significatif.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640080" cy="5943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Apprendre &amp; itérer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2627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Chaque échec partiel nourrit la roadmap 2027 et renforce la résilience.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